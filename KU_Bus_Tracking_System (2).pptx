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Simulated Bus Speeds (km/h)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 (km/h)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EF7-4A66-BF79-DA0771ADA5FA}"/>
              </c:ext>
            </c:extLst>
          </c:dPt>
          <c:dPt>
            <c:idx val="1"/>
            <c:invertIfNegative val="0"/>
            <c:bubble3D val="0"/>
            <c:spPr>
              <a:solidFill>
                <a:srgbClr val="14A0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EF7-4A66-BF79-DA0771ADA5F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EF7-4A66-BF79-DA0771ADA5FA}"/>
              </c:ext>
            </c:extLst>
          </c:dPt>
          <c:dPt>
            <c:idx val="3"/>
            <c:invertIfNegative val="0"/>
            <c:bubble3D val="0"/>
            <c:spPr>
              <a:solidFill>
                <a:srgbClr val="14A0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EF7-4A66-BF79-DA0771ADA5FA}"/>
              </c:ext>
            </c:extLst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EF7-4A66-BF79-DA0771ADA5FA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EEF7-4A66-BF79-DA0771ADA5FA}"/>
              </c:ext>
            </c:extLst>
          </c:dPt>
          <c:dPt>
            <c:idx val="6"/>
            <c:invertIfNegative val="0"/>
            <c:bubble3D val="0"/>
            <c:spPr>
              <a:solidFill>
                <a:srgbClr val="14A0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EF7-4A66-BF79-DA0771ADA5F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CB-1</c:v>
                </c:pt>
                <c:pt idx="1">
                  <c:v>CB-2</c:v>
                </c:pt>
                <c:pt idx="2">
                  <c:v>CB-3</c:v>
                </c:pt>
                <c:pt idx="3">
                  <c:v>CB-4</c:v>
                </c:pt>
                <c:pt idx="4">
                  <c:v>CB-5</c:v>
                </c:pt>
                <c:pt idx="5">
                  <c:v>CB-6</c:v>
                </c:pt>
                <c:pt idx="6">
                  <c:v>CB-7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</c:v>
                </c:pt>
                <c:pt idx="1">
                  <c:v>35</c:v>
                </c:pt>
                <c:pt idx="2">
                  <c:v>50</c:v>
                </c:pt>
                <c:pt idx="3">
                  <c:v>38</c:v>
                </c:pt>
                <c:pt idx="4">
                  <c:v>55</c:v>
                </c:pt>
                <c:pt idx="5">
                  <c:v>30</c:v>
                </c:pt>
                <c:pt idx="6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EF7-4A66-BF79-DA0771ADA5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ETA vs Journey Progress (CB-1)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ETA (minutes)</c:v>
                </c:pt>
              </c:strCache>
            </c:strRef>
          </c:tx>
          <c:spPr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0%</c:v>
                </c:pt>
                <c:pt idx="1">
                  <c:v>20%</c:v>
                </c:pt>
                <c:pt idx="2">
                  <c:v>40%</c:v>
                </c:pt>
                <c:pt idx="3">
                  <c:v>60%</c:v>
                </c:pt>
                <c:pt idx="4">
                  <c:v>80%</c:v>
                </c:pt>
                <c:pt idx="5">
                  <c:v>100%</c:v>
                </c:pt>
                <c:pt idx="6">
                  <c:v>Arrived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</c:v>
                </c:pt>
                <c:pt idx="1">
                  <c:v>30</c:v>
                </c:pt>
                <c:pt idx="2">
                  <c:v>23</c:v>
                </c:pt>
                <c:pt idx="3">
                  <c:v>16</c:v>
                </c:pt>
                <c:pt idx="4">
                  <c:v>9</c:v>
                </c:pt>
                <c:pt idx="5">
                  <c:v>3</c:v>
                </c:pt>
                <c:pt idx="6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3D9-45F7-B9CD-2AE95D26A2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9220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7377">
              <a:alpha val="18000"/>
            </a:srgbClr>
          </a:solidFill>
          <a:ln w="12700">
            <a:solidFill>
              <a:srgbClr val="0D7377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74320"/>
            <a:ext cx="2103120" cy="2103120"/>
          </a:xfrm>
          <a:prstGeom prst="ellipse">
            <a:avLst/>
          </a:prstGeom>
          <a:solidFill>
            <a:srgbClr val="14A085">
              <a:alpha val="28000"/>
            </a:srgbClr>
          </a:solidFill>
          <a:ln w="12700">
            <a:solidFill>
              <a:srgbClr val="14A085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5029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9276" y="692658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College Bus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Tracking System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49276" y="2519514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A085"/>
                </a:solidFill>
              </a:rPr>
              <a:t>Real-Time Campus Bus Simulator for Students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342900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1752" y="2838901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Department: CSE</a:t>
            </a:r>
          </a:p>
        </p:txBody>
      </p:sp>
      <p:sp>
        <p:nvSpPr>
          <p:cNvPr id="14" name="Text 12"/>
          <p:cNvSpPr/>
          <p:nvPr/>
        </p:nvSpPr>
        <p:spPr>
          <a:xfrm>
            <a:off x="-18288" y="3160216"/>
            <a:ext cx="2002536" cy="99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B23CS005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B23CS017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B23CS029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B23CS041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B23CS053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  B24CS192L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68696" y="342900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87768" y="342900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69087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 |  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566928"/>
          </a:xfrm>
          <a:prstGeom prst="rect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332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1B4B"/>
                </a:solidFill>
              </a:rPr>
              <a:t>students from Warangal, Hanamkonda, Kazipet and surrounding areas rely on campus buses — but real-time locations, ETAs, and seat availability remain completely unknown until the bus actually arrives.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19072"/>
            <a:ext cx="416052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10512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24128" y="18288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No Live Location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4128" y="213055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8"/>
                </a:solidFill>
              </a:rPr>
              <a:t>Students have no way to see where campus buses are in real time, causing long uncertain waits at pickup stops across Warangal.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719072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719072"/>
            <a:ext cx="416052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810512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67528" y="18288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Unpredictable ETAs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67528" y="213055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8"/>
                </a:solidFill>
              </a:rPr>
              <a:t>Without dynamic arrival estimates, students cannot plan their mornings — leading to missed buses and late arrivals to classes.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136392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36392"/>
            <a:ext cx="416052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27832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💺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24128" y="32461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Unknown Seat Availability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" y="354787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8"/>
                </a:solidFill>
              </a:rPr>
              <a:t>Students board without knowing how many seats are free, risking overcrowded buses or being left behind at peak hours.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3136392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136392"/>
            <a:ext cx="416052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3227832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67528" y="32461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No Route Awareness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67528" y="354787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8"/>
                </a:solidFill>
              </a:rPr>
              <a:t>Travelers lack an interactive map showing which buses serve their nearest pickup stop and which route passes close to them.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A8"/>
                </a:solidFill>
              </a:rPr>
              <a:t> College Bus Tracking System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|  Project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530352" cy="1170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53035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11556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</a:rPr>
              <a:t>Simulate Live Movement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87552" y="1426464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8"/>
                </a:solidFill>
              </a:rPr>
              <a:t>Simulate campus bus movement along routes using GPS-style coordinate interpolation with randomized speed and jitter.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02412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24128"/>
            <a:ext cx="530352" cy="1170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024128"/>
            <a:ext cx="53035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30952" y="111556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</a:rPr>
              <a:t>Interactive Folium Map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30952" y="1426464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8"/>
                </a:solidFill>
              </a:rPr>
              <a:t>Display real-time bus positions with ETA, speed, seat count, delay status, route lines, and pickup stop markers.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22576"/>
            <a:ext cx="530352" cy="1170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22576"/>
            <a:ext cx="53035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" y="241401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</a:rPr>
              <a:t>Nearest Stop Detection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87552" y="2724912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8"/>
                </a:solidFill>
              </a:rPr>
              <a:t>Find the closest pickup stop to student's location using geodesic distance and suggest best matching buses.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322576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22576"/>
            <a:ext cx="530352" cy="1170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322576"/>
            <a:ext cx="53035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30952" y="241401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</a:rPr>
              <a:t>Journey Progress Bar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30952" y="2724912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8"/>
                </a:solidFill>
              </a:rPr>
              <a:t>Animate a 0–100% progress bar per simulation step with automatic arrival detection when the bus reaches campus.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621024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621024"/>
            <a:ext cx="530352" cy="1170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21024"/>
            <a:ext cx="53035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7552" y="371246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</a:rPr>
              <a:t>Fleet Overview Map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87552" y="4023360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8"/>
                </a:solidFill>
              </a:rPr>
              <a:t>Render all 7 campus buses simultaneously on one Folium map with color-coded routes and live positions.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09160" y="3621024"/>
            <a:ext cx="53035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30952" y="371246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330952" y="4023360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A8"/>
                </a:solidFill>
              </a:rPr>
              <a:t>College Bus Tracking System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|  Introduction to Bus Arrival Prediction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</a:rPr>
              <a:t>What is Bus Arrival Prediction?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BA8"/>
                </a:solidFill>
              </a:rPr>
              <a:t>Bus arrival prediction estimates when a bus will reach a stop using real-time location data and algorithms. In this project, prediction is simulation-driven — no ML model is required.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176272"/>
            <a:ext cx="54864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18541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Linear Interpolation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404872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8"/>
                </a:solidFill>
              </a:rPr>
              <a:t>Bus position computed by interpolating GPS coordinates (lat/lon) using a progress factor p ∈ [0.0, 1.0].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843784"/>
            <a:ext cx="54864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85292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ETA Formula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3072384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8"/>
                </a:solidFill>
              </a:rPr>
              <a:t>ETA = (Distance Remaining ÷ Speed) × 60 min. Recalculated every simulation tick for live updates.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511296"/>
            <a:ext cx="54864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52044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Stochastic Speed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3739896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8"/>
                </a:solidFill>
              </a:rPr>
              <a:t>Bus speed is randomised at 30–60 km/h with ±0.002 step jitter to mimic real traffic variability.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4178808"/>
            <a:ext cx="54864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418795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Delay Modelling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4407408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8"/>
                </a:solidFill>
              </a:rPr>
              <a:t>Each bus has 40% chance of 5–10 min delay, with status_label() reporting ON TIME or DELAYED +N min.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03520" y="1005840"/>
            <a:ext cx="17190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0" y="1005840"/>
            <a:ext cx="1719072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114300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303520" y="1810512"/>
            <a:ext cx="17190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4B"/>
                </a:solidFill>
              </a:rPr>
              <a:t>GPS Coordinate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4B"/>
                </a:solidFill>
              </a:rPr>
              <a:t>Interpolation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78040" y="1005840"/>
            <a:ext cx="17190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78040" y="1005840"/>
            <a:ext cx="1719072" cy="7315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114300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🧮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178040" y="1810512"/>
            <a:ext cx="17190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4B"/>
                </a:solidFill>
              </a:rPr>
              <a:t>ETA = Dist ÷ Speed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4B"/>
                </a:solidFill>
              </a:rPr>
              <a:t>× 60 min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03520" y="2926080"/>
            <a:ext cx="17190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03520" y="2926080"/>
            <a:ext cx="171907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306324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🎲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303520" y="3730752"/>
            <a:ext cx="17190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4B"/>
                </a:solidFill>
              </a:rPr>
              <a:t>Stochastic Speed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4B"/>
                </a:solidFill>
              </a:rPr>
              <a:t>30–60 km/h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178040" y="2926080"/>
            <a:ext cx="17190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78040" y="2926080"/>
            <a:ext cx="1719072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306324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🚌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178040" y="3730752"/>
            <a:ext cx="17190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4B"/>
                </a:solidFill>
              </a:rPr>
              <a:t>7 College Buses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4B"/>
                </a:solidFill>
              </a:rPr>
              <a:t>Simulated Live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A8"/>
                </a:solidFill>
              </a:rPr>
              <a:t> College Bus Tracking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|  Data Visualization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87552"/>
          <a:ext cx="42062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754880" y="987552"/>
          <a:ext cx="40233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493008"/>
            <a:ext cx="2743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65760" y="3493008"/>
            <a:ext cx="27432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35935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🗺  Interactive Folium Map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3959352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8"/>
                </a:solidFill>
              </a:rPr>
              <a:t>Live bus markers, color-coded route polylines, pickup flags and campus icon.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46120" y="3493008"/>
            <a:ext cx="2743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46120" y="3493008"/>
            <a:ext cx="27432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37560" y="35935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📊  Progress Bar 0–100%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37560" y="3959352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8"/>
                </a:solidFill>
              </a:rPr>
              <a:t>ASCII-style bar updates every simulation step; auto-detects arrival at campus.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26480" y="3493008"/>
            <a:ext cx="2743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3493008"/>
            <a:ext cx="27432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17920" y="35935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🚌  Fleet Overview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217920" y="3959352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8"/>
                </a:solidFill>
              </a:rPr>
              <a:t>All 7 buses rendered simultaneously on one map with real-time position updates.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A8"/>
                </a:solidFill>
              </a:rPr>
              <a:t>College Bus Tracking System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|  Dataset Description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114800" cy="3813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411480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📍  Pickup Stops (12 Locations)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D7377"/>
                </a:solidFill>
              </a:rPr>
              <a:t>🎓  Campus (17.9785°N, 79.5305°E) — Destination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7A8BA8"/>
                </a:solidFill>
              </a:rPr>
              <a:t>◉ Warangal Station (17.9784°N, 79.5996°E)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502920" y="197510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7A8BA8"/>
                </a:solidFill>
              </a:rPr>
              <a:t>◉ Hanamkonda (18.0065°N, 79.5527°E)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502920" y="223113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7A8BA8"/>
                </a:solidFill>
              </a:rPr>
              <a:t>◉ Kazipet (17.9700°N, 79.5200°E)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502920" y="24871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7A8BA8"/>
                </a:solidFill>
              </a:rPr>
              <a:t>◉ Subedari (17.9850°N, 79.5600°E)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502920" y="27432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7A8BA8"/>
                </a:solidFill>
              </a:rPr>
              <a:t>◉ RTC Complex WG (17.9750°N, 79.5900°E)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02920" y="29992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7A8BA8"/>
                </a:solidFill>
              </a:rPr>
              <a:t>◉ Desaipet (18.0100°N, 79.5100°E)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502920" y="32552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7A8BA8"/>
                </a:solidFill>
              </a:rPr>
              <a:t>◉ Naimnagar (17.9600°N, 79.5400°E)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502920" y="35112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7A8BA8"/>
                </a:solidFill>
              </a:rPr>
              <a:t>◉ Mattewada (17.9500°N, 79.5700°E)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502920" y="37673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7A8BA8"/>
                </a:solidFill>
              </a:rPr>
              <a:t>◉ Nakkalagutta (18.0150°N, 79.5300°E)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502920" y="40233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7A8BA8"/>
                </a:solidFill>
              </a:rPr>
              <a:t>◉ Bheemaram (17.9400°N, 79.4900°E)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502920" y="42793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7A8BA8"/>
                </a:solidFill>
              </a:rPr>
              <a:t>◉ JNTU WG (17.9900°N, 79.5800°E)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663440" y="987552"/>
            <a:ext cx="4160520" cy="3813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987552"/>
            <a:ext cx="416052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9875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🚌  College Bus Routes (7 Buses)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1371600"/>
            <a:ext cx="4160520" cy="274320"/>
          </a:xfrm>
          <a:prstGeom prst="rect">
            <a:avLst/>
          </a:prstGeom>
          <a:solidFill>
            <a:srgbClr val="E6EAF4"/>
          </a:solidFill>
          <a:ln w="12700">
            <a:solidFill>
              <a:srgbClr val="E6EA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3898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B"/>
                </a:solidFill>
              </a:rPr>
              <a:t>Bus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93208" y="13898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B"/>
                </a:solidFill>
              </a:rPr>
              <a:t>From Stop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85432" y="13898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B"/>
                </a:solidFill>
              </a:rPr>
              <a:t>Departs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19288" y="13898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B"/>
                </a:solidFill>
              </a:rPr>
              <a:t>Cap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1682496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1728216"/>
            <a:ext cx="54864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168249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CB-1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20640" y="16824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Warangal Station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76288" y="1682496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</a:rPr>
              <a:t>07:30 AM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26680" y="168249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4B"/>
                </a:solidFill>
              </a:rPr>
              <a:t>60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020824"/>
            <a:ext cx="4160520" cy="329184"/>
          </a:xfrm>
          <a:prstGeom prst="rect">
            <a:avLst/>
          </a:prstGeom>
          <a:solidFill>
            <a:srgbClr val="F4F6FB"/>
          </a:solidFill>
          <a:ln w="12700">
            <a:solidFill>
              <a:srgbClr val="E6EA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066544"/>
            <a:ext cx="54864" cy="237744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202082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CB-2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120640" y="2020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Hanamkonda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76288" y="202082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</a:rPr>
              <a:t>07:45 AM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26680" y="202082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4B"/>
                </a:solidFill>
              </a:rPr>
              <a:t>50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359152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2404872"/>
            <a:ext cx="54864" cy="2377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235915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CB-3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120640" y="23591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Kazipet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76288" y="235915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</a:rPr>
              <a:t>08:00 AM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26680" y="235915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4B"/>
                </a:solidFill>
              </a:rPr>
              <a:t>55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2697480"/>
            <a:ext cx="4160520" cy="329184"/>
          </a:xfrm>
          <a:prstGeom prst="rect">
            <a:avLst/>
          </a:prstGeom>
          <a:solidFill>
            <a:srgbClr val="F4F6FB"/>
          </a:solidFill>
          <a:ln w="12700">
            <a:solidFill>
              <a:srgbClr val="E6EAF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2743200"/>
            <a:ext cx="54864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36592" y="269748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CB-4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120640" y="26974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Desaipet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76288" y="269748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</a:rPr>
              <a:t>07:15 AM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726680" y="269748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4B"/>
                </a:solidFill>
              </a:rPr>
              <a:t>48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3035808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3081528"/>
            <a:ext cx="54864" cy="237744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36592" y="303580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CB-5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120640" y="30358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Mattewada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876288" y="303580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</a:rPr>
              <a:t>07:00 AM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726680" y="303580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4B"/>
                </a:solidFill>
              </a:rPr>
              <a:t>52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63440" y="3374136"/>
            <a:ext cx="4160520" cy="329184"/>
          </a:xfrm>
          <a:prstGeom prst="rect">
            <a:avLst/>
          </a:prstGeom>
          <a:solidFill>
            <a:srgbClr val="F4F6FB"/>
          </a:solidFill>
          <a:ln w="12700">
            <a:solidFill>
              <a:srgbClr val="E6EAF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63440" y="3419856"/>
            <a:ext cx="54864" cy="2377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36592" y="337413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CB-6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120640" y="33741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JNTU WG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876288" y="3374136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</a:rPr>
              <a:t>08:15 AM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726680" y="337413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4B"/>
                </a:solidFill>
              </a:rPr>
              <a:t>45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3712464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63440" y="3758184"/>
            <a:ext cx="54864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36592" y="371246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CB-7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120640" y="3712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Bheemaram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876288" y="371246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4B"/>
                </a:solidFill>
              </a:rPr>
              <a:t>07:20 AM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726680" y="371246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4B"/>
                </a:solidFill>
              </a:rPr>
              <a:t>50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A8"/>
                </a:solidFill>
              </a:rPr>
              <a:t> College Bus Tracking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|  System Architecture /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199339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1993392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8755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INPUT LAYER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▸ </a:t>
            </a:r>
            <a:r>
              <a:rPr lang="en-US" sz="950" dirty="0">
                <a:solidFill>
                  <a:srgbClr val="7A8BA8"/>
                </a:solidFill>
              </a:rPr>
              <a:t>Student Location (lat, lon)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▸ </a:t>
            </a:r>
            <a:r>
              <a:rPr lang="en-US" sz="950" dirty="0">
                <a:solidFill>
                  <a:srgbClr val="7A8BA8"/>
                </a:solidFill>
              </a:rPr>
              <a:t>Bus ID Selection (CB-1 to CB-7)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</a:rPr>
              <a:t>▸ </a:t>
            </a:r>
            <a:r>
              <a:rPr lang="en-US" sz="950" dirty="0">
                <a:solidFill>
                  <a:srgbClr val="7A8BA8"/>
                </a:solidFill>
              </a:rPr>
              <a:t>Simulation Steps &amp; Delay Settings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13432" y="2487168"/>
            <a:ext cx="155448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987552"/>
            <a:ext cx="199339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987552"/>
            <a:ext cx="1993392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98755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LOGIC LAYER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6032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</a:rPr>
              <a:t>▸ </a:t>
            </a:r>
            <a:r>
              <a:rPr lang="en-US" sz="950" dirty="0">
                <a:solidFill>
                  <a:srgbClr val="7A8BA8"/>
                </a:solidFill>
              </a:rPr>
              <a:t>find_nearest_stop() — geopy geodesic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6032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</a:rPr>
              <a:t>▸ </a:t>
            </a:r>
            <a:r>
              <a:rPr lang="en-US" sz="950" dirty="0">
                <a:solidFill>
                  <a:srgbClr val="7A8BA8"/>
                </a:solidFill>
              </a:rPr>
              <a:t>CollegeBus.move() — step + jitter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6032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</a:rPr>
              <a:t>▸ </a:t>
            </a:r>
            <a:r>
              <a:rPr lang="en-US" sz="950" dirty="0">
                <a:solidFill>
                  <a:srgbClr val="7A8BA8"/>
                </a:solidFill>
              </a:rPr>
              <a:t>CollegeBus.eta_minutes() — ETA calc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6032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</a:rPr>
              <a:t>▸ </a:t>
            </a:r>
            <a:r>
              <a:rPr lang="en-US" sz="950" dirty="0">
                <a:solidFill>
                  <a:srgbClr val="7A8BA8"/>
                </a:solidFill>
              </a:rPr>
              <a:t>buses_to_college() — route match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62272" y="2487168"/>
            <a:ext cx="155448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987552"/>
            <a:ext cx="199339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987552"/>
            <a:ext cx="1993392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98755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DATA LAYER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916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</a:rPr>
              <a:t>▸ </a:t>
            </a:r>
            <a:r>
              <a:rPr lang="en-US" sz="950" dirty="0">
                <a:solidFill>
                  <a:srgbClr val="7A8BA8"/>
                </a:solidFill>
              </a:rPr>
              <a:t>PICKUP_STOPS dict (12 coords)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</a:rPr>
              <a:t>▸ </a:t>
            </a:r>
            <a:r>
              <a:rPr lang="en-US" sz="950" dirty="0">
                <a:solidFill>
                  <a:srgbClr val="7A8BA8"/>
                </a:solidFill>
              </a:rPr>
              <a:t>COLLEGE_ROUTES dict (7 routes)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</a:rPr>
              <a:t>▸ </a:t>
            </a:r>
            <a:r>
              <a:rPr lang="en-US" sz="950" dirty="0">
                <a:solidFill>
                  <a:srgbClr val="7A8BA8"/>
                </a:solidFill>
              </a:rPr>
              <a:t>CollegeBus objects (speed, seats, delay)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11112" y="2487168"/>
            <a:ext cx="155448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987552"/>
            <a:ext cx="199339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66560" y="987552"/>
            <a:ext cx="1993392" cy="384048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98755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PRESENTATION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5800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A085"/>
                </a:solidFill>
              </a:rPr>
              <a:t>▸ </a:t>
            </a:r>
            <a:r>
              <a:rPr lang="en-US" sz="950" dirty="0">
                <a:solidFill>
                  <a:srgbClr val="7A8BA8"/>
                </a:solidFill>
              </a:rPr>
              <a:t>Folium Map — live bus + route polyline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A085"/>
                </a:solidFill>
              </a:rPr>
              <a:t>▸ </a:t>
            </a:r>
            <a:r>
              <a:rPr lang="en-US" sz="950" dirty="0">
                <a:solidFill>
                  <a:srgbClr val="7A8BA8"/>
                </a:solidFill>
              </a:rPr>
              <a:t>ipywidgets — tracker UI controls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5800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A085"/>
                </a:solidFill>
              </a:rPr>
              <a:t>▸ </a:t>
            </a:r>
            <a:r>
              <a:rPr lang="en-US" sz="950" dirty="0">
                <a:solidFill>
                  <a:srgbClr val="7A8BA8"/>
                </a:solidFill>
              </a:rPr>
              <a:t>HTML progress bar — 0–100%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343400"/>
            <a:ext cx="8503920" cy="457200"/>
          </a:xfrm>
          <a:prstGeom prst="rect">
            <a:avLst/>
          </a:prstGeom>
          <a:solidFill>
            <a:srgbClr val="0D1B4B">
              <a:alpha val="12000"/>
            </a:srgbClr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36168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1B4B"/>
                </a:solidFill>
              </a:rPr>
              <a:t>Flow: Student provides location → Nearest stop identified → Matching buses found → CollegeBus simulates movement → Folium map renders live position → Widget shows ETA, seats &amp; progress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A8"/>
                </a:solidFill>
              </a:rPr>
              <a:t> College Bus Tracking System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 |  Implementation (Google Colab)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2062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566928" cy="8869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56692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Cell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78408" y="1069848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Install Dependencies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" y="1325880"/>
            <a:ext cx="3456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folium geopy ipywidgets -q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78408" y="1536192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8BA8"/>
                </a:solidFill>
              </a:rPr>
              <a:t>Installs all required libraries silently in Colab runtime.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690872" y="1005840"/>
            <a:ext cx="42062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1005840"/>
            <a:ext cx="566928" cy="8869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1005840"/>
            <a:ext cx="56692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Cell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49240" y="1069848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Imports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9240" y="1325880"/>
            <a:ext cx="3456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folium, geopy, ipywidgets, random, datetime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49240" y="1536192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8BA8"/>
                </a:solidFill>
              </a:rPr>
              <a:t>Loads libraries for mapping, distance calc, UI, and simulation.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320040" y="1984248"/>
            <a:ext cx="42062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1984248"/>
            <a:ext cx="566928" cy="8869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984248"/>
            <a:ext cx="56692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Cell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78408" y="2048256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Define Data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8408" y="2304288"/>
            <a:ext cx="3456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PICKUP_STOPS, COLLEGE_ROUTES, USER_LOCATION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78408" y="2514600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8BA8"/>
                </a:solidFill>
              </a:rPr>
              <a:t>12 pickup stops, 7 routes with capacity/departure, user GPS coord.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690872" y="1984248"/>
            <a:ext cx="42062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90872" y="1984248"/>
            <a:ext cx="566928" cy="8869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1984248"/>
            <a:ext cx="56692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Cell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49240" y="2048256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CollegeBus Class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2304288"/>
            <a:ext cx="3456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move(), eta_minutes(), progress_pct(), seats_available()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349240" y="2514600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8BA8"/>
                </a:solidFill>
              </a:rPr>
              <a:t>Core simulation class — handles movement, ETA, seat count, delay.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320040" y="2962656"/>
            <a:ext cx="42062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962656"/>
            <a:ext cx="566928" cy="8869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962656"/>
            <a:ext cx="56692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Cell 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8408" y="3026664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Helper Functions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8408" y="3282696"/>
            <a:ext cx="3456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find_nearest_stop(), build_map(), fleet_map()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78408" y="3493008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8BA8"/>
                </a:solidFill>
              </a:rPr>
              <a:t>Nearest-stop lookup, single-bus Folium map, fleet overview map.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690872" y="2962656"/>
            <a:ext cx="42062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90872" y="2962656"/>
            <a:ext cx="566928" cy="8869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90872" y="2962656"/>
            <a:ext cx="56692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Cell 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49240" y="3026664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Find My Buses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49240" y="3282696"/>
            <a:ext cx="3456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find_my_buses(USER_LOCATION)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349240" y="3493008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8BA8"/>
                </a:solidFill>
              </a:rPr>
              <a:t>Prints buses serving student's nearest stop bound for KU Campus.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320040" y="3941064"/>
            <a:ext cx="42062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941064"/>
            <a:ext cx="566928" cy="8869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941064"/>
            <a:ext cx="56692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Cell 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78408" y="4005072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Fleet Map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78408" y="4261104"/>
            <a:ext cx="3456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fleet_map()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78408" y="4471416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8BA8"/>
                </a:solidFill>
              </a:rPr>
              <a:t>Renders all 7 buses simultaneously on one interactive Folium map.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4690872" y="3941064"/>
            <a:ext cx="42062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90872" y="3941064"/>
            <a:ext cx="566928" cy="8869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90872" y="3941064"/>
            <a:ext cx="56692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Cell 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49240" y="4005072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Live Tracker Widget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49240" y="4261104"/>
            <a:ext cx="3456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ipywidgets Dropdown + Button + Output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349240" y="4471416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8BA8"/>
                </a:solidFill>
              </a:rPr>
              <a:t>Select bus, set steps/delay, run live simulation with progress bar.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A8"/>
                </a:solidFill>
              </a:rPr>
              <a:t>College Bus Tracking System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 |  Results and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965960" cy="10515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Pickup Stops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Mapped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87168" y="987552"/>
            <a:ext cx="1965960" cy="10515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87168" y="1005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7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87168" y="15727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Active Campus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Bus Routes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08576" y="987552"/>
            <a:ext cx="1965960" cy="1051560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08576" y="1005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30–60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08576" y="15727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Speed Range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(km/h)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9984" y="987552"/>
            <a:ext cx="1965960" cy="1051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9984" y="1005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40%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29984" y="15727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Delay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Probability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48840"/>
          <a:ext cx="8412480" cy="2651761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7A8BA8"/>
                          </a:solidFill>
                        </a:rPr>
                        <a:t>Nearest Stop Detection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7A8BA8"/>
                          </a:solidFill>
                        </a:rPr>
                        <a:t>Correctly identifies closest of 12 stops using geodesic distance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7A8BA8"/>
                          </a:solidFill>
                        </a:rPr>
                        <a:t>Bus Route Matching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7A8BA8"/>
                          </a:solidFill>
                        </a:rPr>
                        <a:t>Filters buses matching student's nearest stop &amp; campus destination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7A8BA8"/>
                          </a:solidFill>
                        </a:rPr>
                        <a:t>Live Map Rendering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7A8BA8"/>
                          </a:solidFill>
                        </a:rPr>
                        <a:t>Folium map shows bus icon, route polyline, pickup flags &amp; campus marker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7A8BA8"/>
                          </a:solidFill>
                        </a:rPr>
                        <a:t>Seat Availability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7A8BA8"/>
                          </a:solidFill>
                        </a:rPr>
                        <a:t>Displays free seats per bus; colour-coded green/orange/red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7A8BA8"/>
                          </a:solidFill>
                        </a:rPr>
                        <a:t>Delay Alerts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7A8BA8"/>
                          </a:solidFill>
                        </a:rPr>
                        <a:t>Status label: ON TIME or DELAYED +N min per bus at each tick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7A8BA8"/>
                          </a:solidFill>
                        </a:rPr>
                        <a:t>Fleet Overview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7A8BA8"/>
                          </a:solidFill>
                        </a:rPr>
                        <a:t>All 7 buses rendered simultaneously on single Folium map</a:t>
                      </a:r>
                      <a:endParaRPr lang="en-US" sz="980" dirty="0"/>
                    </a:p>
                  </a:txBody>
                  <a:tcPr>
                    <a:lnL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BA8"/>
                </a:solidFill>
              </a:rPr>
              <a:t>College Bus Tracking System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14A085">
              <a:alpha val="15000"/>
            </a:srgbClr>
          </a:solidFill>
          <a:ln w="12700">
            <a:solidFill>
              <a:srgbClr val="14A08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</a:rPr>
              <a:t>09  |  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Takeaways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416052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417320"/>
            <a:ext cx="416052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Objectives Achieved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All 6 project goals completed — live simulation, Folium mapping, nearest-stop detection, progress tracking, fleet overview and admin panel.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416052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417320"/>
            <a:ext cx="416052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🔬  Technology Stack Validated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Python, Folium, geopy and ipywidgets proved fully sufficient for an interactive transit simulator without any backend server.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880360"/>
            <a:ext cx="416052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880360"/>
            <a:ext cx="416052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71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📈  Scalability Potential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33756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The architecture can integrate real GPS feeds, GTFS datasets and predictive ML models for accurate university-wide transit management.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160520" cy="13258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880360"/>
            <a:ext cx="416052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971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🌍  Real-World Impact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33756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A production version could reduce student wait times, improve campus punctuality and enable smarter bus scheduling for KU authorities.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69087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767840"/>
            <a:ext cx="4572000" cy="4572000"/>
          </a:xfrm>
          <a:prstGeom prst="ellipse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14A085">
              <a:alpha val="25000"/>
            </a:srgbClr>
          </a:solidFill>
          <a:ln w="12700">
            <a:solidFill>
              <a:srgbClr val="14A085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🎓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You!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4A085"/>
                </a:solidFill>
              </a:rPr>
              <a:t>Real-Time Bus Tracking System  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2852928"/>
            <a:ext cx="6400800" cy="45720"/>
          </a:xfrm>
          <a:prstGeom prst="rect">
            <a:avLst/>
          </a:prstGeom>
          <a:solidFill>
            <a:srgbClr val="0D7377">
              <a:alpha val="50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0632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BA8"/>
                </a:solidFill>
              </a:rPr>
              <a:t>Built with: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20240" y="3063240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0D7377">
              <a:alpha val="5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06324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Python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3063240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0D7377">
              <a:alpha val="5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306324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Folium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3063240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0D7377">
              <a:alpha val="5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06324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geopy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3063240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0D7377">
              <a:alpha val="5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306324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ipywidgets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06640" y="3063240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0D7377">
              <a:alpha val="5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306324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Google Colab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611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69087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1362</Words>
  <Application>Microsoft Office PowerPoint</Application>
  <PresentationFormat>On-screen Show (16:9)</PresentationFormat>
  <Paragraphs>237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 College Bus Tracking System</dc:title>
  <dc:subject>PptxGenJS Presentation</dc:subject>
  <dc:creator>PptxGenJS</dc:creator>
  <cp:lastModifiedBy>pragnya rao</cp:lastModifiedBy>
  <cp:revision>4</cp:revision>
  <dcterms:created xsi:type="dcterms:W3CDTF">2026-04-08T14:36:24Z</dcterms:created>
  <dcterms:modified xsi:type="dcterms:W3CDTF">2026-04-09T06:04:25Z</dcterms:modified>
</cp:coreProperties>
</file>